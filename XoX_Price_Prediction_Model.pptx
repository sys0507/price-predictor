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0" r:id="rId14"/>
    <p:sldId id="276" r:id="rId15"/>
    <p:sldId id="277" r:id="rId16"/>
    <p:sldId id="278" r:id="rId17"/>
    <p:sldId id="279" r:id="rId18"/>
    <p:sldId id="282" r:id="rId19"/>
    <p:sldId id="281" r:id="rId20"/>
    <p:sldId id="284" r:id="rId21"/>
    <p:sldId id="285" r:id="rId22"/>
    <p:sldId id="286" r:id="rId23"/>
    <p:sldId id="287" r:id="rId24"/>
    <p:sldId id="289" r:id="rId25"/>
    <p:sldId id="290" r:id="rId26"/>
    <p:sldId id="292" r:id="rId27"/>
    <p:sldId id="262" r:id="rId28"/>
    <p:sldId id="264" r:id="rId29"/>
    <p:sldId id="265" r:id="rId30"/>
    <p:sldId id="26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91" y="76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36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9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82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6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9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3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6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6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2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7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4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4D79"/>
                </a:solidFill>
              </a:defRPr>
            </a:pPr>
            <a:r>
              <a:t>XoX Price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Helping Our Customers Make Informed Purchasing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rPr lang="en-US" dirty="0"/>
              <a:t>Introduction: </a:t>
            </a:r>
            <a:r>
              <a:rPr dirty="0"/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Our agency helps customers purchase </a:t>
            </a:r>
            <a:r>
              <a:rPr dirty="0" err="1"/>
              <a:t>XoX</a:t>
            </a:r>
            <a:r>
              <a:rPr dirty="0"/>
              <a:t> products from various makers</a:t>
            </a:r>
          </a:p>
          <a:p>
            <a:pPr>
              <a:defRPr sz="2400"/>
            </a:pPr>
            <a:r>
              <a:rPr dirty="0"/>
              <a:t>Price is a critical factor in customer decision-making</a:t>
            </a:r>
          </a:p>
          <a:p>
            <a:pPr>
              <a:defRPr sz="2400"/>
            </a:pPr>
            <a:r>
              <a:rPr dirty="0"/>
              <a:t>Previously, price estimations varied based on employee experience</a:t>
            </a:r>
          </a:p>
          <a:p>
            <a:pPr>
              <a:defRPr sz="2400"/>
            </a:pPr>
            <a:r>
              <a:rPr dirty="0"/>
              <a:t>We needed a consistent, data-driven approach to price prediction</a:t>
            </a:r>
          </a:p>
          <a:p>
            <a:pPr>
              <a:defRPr sz="2400"/>
            </a:pPr>
            <a:r>
              <a:rPr dirty="0"/>
              <a:t>Machine learning provides accurate, reliable price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rPr dirty="0"/>
              <a:t>Understanding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94142"/>
            <a:ext cx="10058401" cy="402336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400"/>
            </a:pPr>
            <a:r>
              <a:rPr dirty="0"/>
              <a:t>Our dataset contains detailed information about </a:t>
            </a:r>
            <a:r>
              <a:rPr dirty="0" err="1"/>
              <a:t>XoX</a:t>
            </a:r>
            <a:r>
              <a:rPr dirty="0"/>
              <a:t> products</a:t>
            </a:r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lang="en-US" b="1" dirty="0"/>
              <a:t>Numerical</a:t>
            </a:r>
            <a:r>
              <a:rPr b="1" dirty="0"/>
              <a:t> features</a:t>
            </a:r>
            <a:r>
              <a:rPr dirty="0"/>
              <a:t>: cost, weight, dimensions (height, width, depth)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lang="en-US" altLang="zh-CN" b="1" dirty="0"/>
              <a:t>Categorical features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Produce</a:t>
            </a:r>
            <a:r>
              <a:rPr lang="zh-CN" altLang="en-US" dirty="0"/>
              <a:t> </a:t>
            </a:r>
            <a:r>
              <a:rPr lang="en-US" altLang="zh-CN" dirty="0"/>
              <a:t>type,</a:t>
            </a:r>
            <a:r>
              <a:rPr lang="zh-CN" altLang="en-US" dirty="0"/>
              <a:t> </a:t>
            </a:r>
            <a:r>
              <a:rPr lang="en-US" altLang="zh-CN" dirty="0"/>
              <a:t>produce</a:t>
            </a:r>
            <a:r>
              <a:rPr lang="zh-CN" altLang="en-US" dirty="0"/>
              <a:t> </a:t>
            </a:r>
            <a:r>
              <a:rPr lang="en-US" altLang="zh-CN" dirty="0"/>
              <a:t>level,</a:t>
            </a:r>
            <a:r>
              <a:rPr lang="zh-CN" altLang="en-US" dirty="0"/>
              <a:t> </a:t>
            </a:r>
            <a:r>
              <a:rPr lang="en-US" altLang="zh-CN" dirty="0"/>
              <a:t>maker,</a:t>
            </a:r>
            <a:r>
              <a:rPr lang="zh-CN" altLang="en-US" dirty="0"/>
              <a:t> </a:t>
            </a:r>
            <a:r>
              <a:rPr lang="en-US" altLang="zh-CN" dirty="0"/>
              <a:t>ingredient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b="1" dirty="0"/>
              <a:t>Temporal features</a:t>
            </a:r>
            <a:r>
              <a:rPr dirty="0"/>
              <a:t>: purchase year, month, day of week, day of 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587DF-FF2C-47BF-080C-67ABEA462B02}"/>
              </a:ext>
            </a:extLst>
          </p:cNvPr>
          <p:cNvSpPr txBox="1"/>
          <p:nvPr/>
        </p:nvSpPr>
        <p:spPr>
          <a:xfrm>
            <a:off x="6196379" y="1719750"/>
            <a:ext cx="4898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dirty="0"/>
              <a:t>What We Learned from </a:t>
            </a:r>
            <a:r>
              <a:rPr lang="en-US" dirty="0" err="1"/>
              <a:t>XoX</a:t>
            </a:r>
            <a:r>
              <a:rPr lang="en-US" dirty="0"/>
              <a:t> Sales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4354-A30B-95A6-23BF-26002574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C5D539-9A6C-2DEA-E833-6BB84B870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397" y="1926025"/>
            <a:ext cx="6249238" cy="3728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072D86-143B-911C-BA21-51FC01292087}"/>
              </a:ext>
            </a:extLst>
          </p:cNvPr>
          <p:cNvSpPr txBox="1"/>
          <p:nvPr/>
        </p:nvSpPr>
        <p:spPr>
          <a:xfrm>
            <a:off x="982761" y="5825164"/>
            <a:ext cx="10850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b="1" dirty="0"/>
              <a:t>Data required cleaning and preprocessing for optimal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3521491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B885-896C-C322-3E20-255CC433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value (feature)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7C2033-2A30-253B-22F7-ADE430FED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090" y="2118538"/>
            <a:ext cx="3939447" cy="2652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DCB39C-5F27-73F4-D450-8913F9D3F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5452"/>
            <a:ext cx="5622970" cy="33181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6C0904-0623-621D-BA00-EFE9B561F585}"/>
              </a:ext>
            </a:extLst>
          </p:cNvPr>
          <p:cNvSpPr txBox="1"/>
          <p:nvPr/>
        </p:nvSpPr>
        <p:spPr>
          <a:xfrm>
            <a:off x="455002" y="5011653"/>
            <a:ext cx="5497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/>
              <a:t>Price distribution is right-skewed (many lower-priced items, fewer premium items)</a:t>
            </a:r>
          </a:p>
        </p:txBody>
      </p:sp>
    </p:spTree>
    <p:extLst>
      <p:ext uri="{BB962C8B-B14F-4D97-AF65-F5344CB8AC3E}">
        <p14:creationId xmlns:p14="http://schemas.microsoft.com/office/powerpoint/2010/main" val="35348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97EA-FBB7-A4D6-1328-470FE255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26" y="225058"/>
            <a:ext cx="10058400" cy="1450757"/>
          </a:xfrm>
        </p:spPr>
        <p:txBody>
          <a:bodyPr/>
          <a:lstStyle/>
          <a:p>
            <a:r>
              <a:rPr lang="en-US" dirty="0"/>
              <a:t>Correlation analysis of numerical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3D63C8-4F88-2939-0401-F03545EDD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780" y="1834076"/>
            <a:ext cx="5068880" cy="439087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99D03D-1424-AC52-9059-4AF944685447}"/>
              </a:ext>
            </a:extLst>
          </p:cNvPr>
          <p:cNvCxnSpPr/>
          <p:nvPr/>
        </p:nvCxnSpPr>
        <p:spPr>
          <a:xfrm>
            <a:off x="3851031" y="2048608"/>
            <a:ext cx="3974123" cy="39829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ED4D9B-EF2B-E69E-88B5-AEEE3502EF06}"/>
              </a:ext>
            </a:extLst>
          </p:cNvPr>
          <p:cNvSpPr/>
          <p:nvPr/>
        </p:nvSpPr>
        <p:spPr>
          <a:xfrm>
            <a:off x="3525715" y="5433646"/>
            <a:ext cx="4413739" cy="812409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5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5E2C-F37A-C62A-A5E7-48657DC7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feature analysis: frequence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BC4442-E1D8-314E-B785-A1923EBD7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331" y="2393924"/>
            <a:ext cx="11163889" cy="27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3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4A9B-F3BE-90F2-483B-1E0C1697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feature analysis: time vs price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E1AFF-AFE4-FF0A-E51E-FB15007D8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92439"/>
            <a:ext cx="10889085" cy="3605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3D084-7D9E-D2A1-C179-28C3D25889E4}"/>
              </a:ext>
            </a:extLst>
          </p:cNvPr>
          <p:cNvSpPr txBox="1"/>
          <p:nvPr/>
        </p:nvSpPr>
        <p:spPr>
          <a:xfrm>
            <a:off x="85212" y="2738873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6658A-6063-4077-3D12-044EDD036197}"/>
              </a:ext>
            </a:extLst>
          </p:cNvPr>
          <p:cNvSpPr txBox="1"/>
          <p:nvPr/>
        </p:nvSpPr>
        <p:spPr>
          <a:xfrm>
            <a:off x="0" y="4513385"/>
            <a:ext cx="116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Median</a:t>
            </a:r>
          </a:p>
        </p:txBody>
      </p:sp>
    </p:spTree>
    <p:extLst>
      <p:ext uri="{BB962C8B-B14F-4D97-AF65-F5344CB8AC3E}">
        <p14:creationId xmlns:p14="http://schemas.microsoft.com/office/powerpoint/2010/main" val="223766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37AF-177F-AC3C-9104-5E9F21A5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feature: product type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CC77C8-3F1A-18AF-7193-1CB0EDC6E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443" y="2066070"/>
            <a:ext cx="908807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88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7209-A1F0-566C-CE76-6A8CFDE4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feature: product level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69527-E63A-96B2-740C-53CD9AC28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392" y="1846263"/>
            <a:ext cx="914554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6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D2CF-4402-46A5-1CDF-CDEFFF66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feature: maker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46C973-A970-E0F2-3081-18702B8F2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5711" y="1846263"/>
            <a:ext cx="784090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7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3A17-E95F-8FD3-A86E-048488D6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feature: ingredient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463E31-263D-CFF3-368B-760E6A31A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602" y="1846263"/>
            <a:ext cx="912912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1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t>What Drives XoX Pricing?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400" b="1"/>
            </a:pPr>
            <a:r>
              <a:t>Key Price Factors</a:t>
            </a:r>
          </a:p>
          <a:p>
            <a:pPr>
              <a:defRPr sz="2000"/>
            </a:pPr>
            <a:r>
              <a:t>Cost (strongest correlation with price)</a:t>
            </a:r>
          </a:p>
          <a:p>
            <a:pPr>
              <a:defRPr sz="2000"/>
            </a:pPr>
            <a:r>
              <a:t>Volume (significant impact)</a:t>
            </a:r>
          </a:p>
          <a:p>
            <a:pPr>
              <a:defRPr sz="2000"/>
            </a:pPr>
            <a:r>
              <a:t>Weight (moderate influence)</a:t>
            </a:r>
          </a:p>
          <a:p>
            <a:pPr>
              <a:defRPr sz="2000"/>
            </a:pPr>
            <a:r>
              <a:t>Physical dimensions (height, width, depth)</a:t>
            </a:r>
          </a:p>
          <a:p>
            <a:pPr>
              <a:defRPr sz="2000"/>
            </a:pPr>
            <a:r>
              <a:t>Temporal factors (when purchased)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400" b="1"/>
            </a:pPr>
            <a:r>
              <a:t>Feature Relationships</a:t>
            </a:r>
          </a:p>
          <a:p>
            <a:pPr>
              <a:defRPr sz="2000"/>
            </a:pPr>
            <a:r>
              <a:t>Cost and price show strong positive correlation (0.55)</a:t>
            </a:r>
          </a:p>
          <a:p>
            <a:pPr>
              <a:defRPr sz="2000"/>
            </a:pPr>
            <a:r>
              <a:t>Volume and weight are closely related to each other</a:t>
            </a:r>
          </a:p>
          <a:p>
            <a:pPr>
              <a:defRPr sz="2000"/>
            </a:pPr>
            <a:r>
              <a:t>Physical dimensions have complex relationships</a:t>
            </a:r>
          </a:p>
          <a:p>
            <a:pPr>
              <a:defRPr sz="2000"/>
            </a:pPr>
            <a:r>
              <a:t>Some features have non-linear relationships with price</a:t>
            </a:r>
          </a:p>
          <a:p>
            <a:pPr>
              <a:defRPr sz="2000"/>
            </a:pPr>
            <a:r>
              <a:t>Understanding these relationships improves prediction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2FC4-A085-5FAC-037C-82CC9715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0ED8-72E5-51A6-6528-4344480B4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53465"/>
            <a:ext cx="11094721" cy="4023360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numerical_features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'cost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'weight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'volume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']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categorical_features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product_type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product_level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']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temporal_features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'year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month</a:t>
            </a: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'weekday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']</a:t>
            </a:r>
          </a:p>
          <a:p>
            <a:pPr marL="0" indent="0"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all_features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numerical_features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categorical_features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temporal_features</a:t>
            </a:r>
            <a:endParaRPr lang="en-US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02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3884-CD09-E4D5-7AE0-12953736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Engineering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F71218-6F5E-BE6D-CD4D-45674EFF0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071" y="2452777"/>
            <a:ext cx="11435858" cy="15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7AB5-19A9-6BB9-9678-FCA4F764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Building the Prediction Model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2B45B8-0DE3-F2C3-E0DC-86F6550B0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922" y="2542808"/>
            <a:ext cx="2600325" cy="239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6F5DF0-254A-6396-3AF4-5CDAA5AB4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0" y="2447557"/>
            <a:ext cx="2476500" cy="2581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F6CB5F-2B36-A7C6-836A-98DB2C999459}"/>
              </a:ext>
            </a:extLst>
          </p:cNvPr>
          <p:cNvSpPr txBox="1"/>
          <p:nvPr/>
        </p:nvSpPr>
        <p:spPr>
          <a:xfrm>
            <a:off x="2627922" y="5241088"/>
            <a:ext cx="280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1" dirty="0"/>
              <a:t>Linear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7E964-44BE-E0EE-8101-8CD6AC4210AE}"/>
              </a:ext>
            </a:extLst>
          </p:cNvPr>
          <p:cNvSpPr txBox="1"/>
          <p:nvPr/>
        </p:nvSpPr>
        <p:spPr>
          <a:xfrm>
            <a:off x="7712807" y="5233168"/>
            <a:ext cx="280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1" dirty="0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980750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3A68-4524-7E72-3C29-F49D7045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Performance:</a:t>
            </a:r>
            <a:r>
              <a:rPr lang="zh-CN" altLang="en-US" b="1" dirty="0"/>
              <a:t> </a:t>
            </a:r>
            <a:r>
              <a:rPr lang="en-US" altLang="zh-CN" b="1" dirty="0"/>
              <a:t>R</a:t>
            </a:r>
            <a:r>
              <a:rPr lang="en-US" altLang="zh-CN" b="1" baseline="30000" dirty="0"/>
              <a:t>2</a:t>
            </a:r>
            <a:endParaRPr lang="en-US" baseline="30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2D57BF-4FD7-9E7D-BFD6-7E0FFCD1D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990270"/>
            <a:ext cx="10058400" cy="3734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6361B-278E-A2D9-CB04-5C0933AD29AF}"/>
              </a:ext>
            </a:extLst>
          </p:cNvPr>
          <p:cNvSpPr txBox="1"/>
          <p:nvPr/>
        </p:nvSpPr>
        <p:spPr>
          <a:xfrm>
            <a:off x="1598002" y="5839389"/>
            <a:ext cx="9788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dirty="0"/>
              <a:t>Top-rank models explain about 40% of price variations (Test R²), which is strong for complex products.</a:t>
            </a:r>
          </a:p>
        </p:txBody>
      </p:sp>
    </p:spTree>
    <p:extLst>
      <p:ext uri="{BB962C8B-B14F-4D97-AF65-F5344CB8AC3E}">
        <p14:creationId xmlns:p14="http://schemas.microsoft.com/office/powerpoint/2010/main" val="1234708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3B2B-6541-4ABD-0DE4-D7838587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Performance:</a:t>
            </a:r>
            <a:r>
              <a:rPr lang="zh-CN" altLang="en-US" b="1" dirty="0"/>
              <a:t> </a:t>
            </a:r>
            <a:r>
              <a:rPr lang="en-US" altLang="zh-CN" b="1" dirty="0"/>
              <a:t>Overall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CEC28C-EC50-C34B-2FFE-C1A8FBBF3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4289" y="2013264"/>
            <a:ext cx="3402325" cy="421307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6A86D1-4759-4973-67E5-FF2EDEF0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386" y="1860237"/>
            <a:ext cx="5291006" cy="426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28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B792-894C-F1FB-CB12-E66401CC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 best model: </a:t>
            </a:r>
            <a:r>
              <a:rPr lang="en-US" altLang="zh-CN" b="1" dirty="0" err="1"/>
              <a:t>XGBoost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B84D2A-4A9D-B86B-327A-03D0B2BC0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990270"/>
            <a:ext cx="10058400" cy="373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8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1965-AEE0-ADE1-E707-E6A1A41E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XGBoost</a:t>
            </a:r>
            <a:r>
              <a:rPr lang="en-US" altLang="zh-CN" b="1" dirty="0"/>
              <a:t>: </a:t>
            </a:r>
            <a:r>
              <a:rPr lang="en-US" b="1" dirty="0"/>
              <a:t>How Prices Are Predicted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F59568-5DE1-CE78-9966-4DF85B96B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88" y="2462854"/>
            <a:ext cx="5899565" cy="24432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CEEBA4-9F67-E7D6-2792-FE622F834585}"/>
              </a:ext>
            </a:extLst>
          </p:cNvPr>
          <p:cNvSpPr txBox="1"/>
          <p:nvPr/>
        </p:nvSpPr>
        <p:spPr>
          <a:xfrm>
            <a:off x="6002948" y="2357346"/>
            <a:ext cx="6097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The model looks at product details like cost, weight, size, and type.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It combines these factors to estimate a fair price, similar to how an expert would evaluate a product.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For example, a heavier, advanced </a:t>
            </a:r>
            <a:r>
              <a:rPr lang="en-US" dirty="0" err="1"/>
              <a:t>XoX</a:t>
            </a:r>
            <a:r>
              <a:rPr lang="en-US" dirty="0"/>
              <a:t> with high cost tends to have a higher price.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We provide clear insights so you understand what drives the price.</a:t>
            </a:r>
            <a:br>
              <a:rPr lang="en-US" dirty="0"/>
            </a:br>
            <a:r>
              <a:rPr lang="en-US" b="1" dirty="0"/>
              <a:t>Visual</a:t>
            </a:r>
            <a:r>
              <a:rPr lang="en-US" dirty="0"/>
              <a:t>: A simple diagram showing inputs (cost, weight, etc.) → Model → Predicted Price.</a:t>
            </a:r>
          </a:p>
        </p:txBody>
      </p:sp>
    </p:spTree>
    <p:extLst>
      <p:ext uri="{BB962C8B-B14F-4D97-AF65-F5344CB8AC3E}">
        <p14:creationId xmlns:p14="http://schemas.microsoft.com/office/powerpoint/2010/main" val="351419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1094-D5B9-3980-BBD9-02F884E1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XGBoost</a:t>
            </a:r>
            <a:r>
              <a:rPr lang="en-US" altLang="zh-CN" b="1" dirty="0"/>
              <a:t>: Feature importance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1BF638-9448-2580-73BE-A9E89C609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4574" y="1846263"/>
            <a:ext cx="674317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70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3476-5B25-7E1E-5ABD-C3A5606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Stacking regressor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9F73-AEEE-C04B-66EB-B8A0CC30D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42449"/>
            <a:ext cx="10058401" cy="4023360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meta_regressor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XGBRegressor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=42,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=100,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=5,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=0.1, verbosity=0)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stacking_regressor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StackingRegressor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estimators=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base_learners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final_estimator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meta_regressor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cv=5,  </a:t>
            </a:r>
          </a:p>
          <a:p>
            <a:pPr>
              <a:lnSpc>
                <a:spcPts val="22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=-1  </a:t>
            </a:r>
          </a:p>
          <a:p>
            <a:pPr>
              <a:lnSpc>
                <a:spcPts val="2250"/>
              </a:lnSpc>
            </a:pP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10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0180-4EC8-3795-3B20-EF5D35C7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BE3D38-0339-4487-C00B-7F463108C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991444"/>
            <a:ext cx="10058400" cy="37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8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B35F-D155-65AA-2C12-8757F014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Stacking regressor vs other models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FACC23-F844-ACF6-0417-DF6409463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990270"/>
            <a:ext cx="10058400" cy="373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4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AC06-22AA-E4F5-2972-5A55B32B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Stacking regressor vs other models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0B756D-0CE7-AB3A-585C-5F6A17DBC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2236" y="1867477"/>
            <a:ext cx="4142814" cy="4308353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8DE02144-A4FA-F184-AC1C-AF1AEE099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42" y="1867477"/>
            <a:ext cx="4142814" cy="434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56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050A-EC19-B16D-80C1-623122E7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5"/>
            <a:ext cx="10939389" cy="1450757"/>
          </a:xfrm>
        </p:spPr>
        <p:txBody>
          <a:bodyPr/>
          <a:lstStyle/>
          <a:p>
            <a:r>
              <a:rPr lang="en-US" altLang="zh-CN" b="1" dirty="0"/>
              <a:t>Stacking regressor: </a:t>
            </a:r>
            <a:r>
              <a:rPr lang="en-US" b="1" dirty="0"/>
              <a:t>How Prices Are Predicted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AA7D52-DEF3-8B4C-BAFC-51A0B9EDB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458" y="1846263"/>
            <a:ext cx="971340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0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t>How Well Does Our Model Perform?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High accuracy in predicting XoX prices across different price ranges</a:t>
            </a:r>
          </a:p>
          <a:p>
            <a:pPr>
              <a:defRPr sz="2400"/>
            </a:pPr>
            <a:r>
              <a:t>Low average prediction error (within acceptable range for business needs)</a:t>
            </a:r>
          </a:p>
          <a:p>
            <a:pPr>
              <a:defRPr sz="2400"/>
            </a:pPr>
            <a:r>
              <a:t>Consistent performance across different product categories</a:t>
            </a:r>
          </a:p>
          <a:p>
            <a:pPr>
              <a:defRPr sz="2400"/>
            </a:pPr>
            <a:r>
              <a:t>Outperforms traditional estimation methods by significant margin</a:t>
            </a:r>
          </a:p>
          <a:p>
            <a:pPr>
              <a:defRPr sz="2400"/>
            </a:pPr>
            <a:r>
              <a:t>Regularly updated with new data to maintain accuracy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t>Benefits for 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Consistent price estimates across all customer interactions</a:t>
            </a:r>
          </a:p>
          <a:p>
            <a:pPr>
              <a:defRPr sz="2400"/>
            </a:pPr>
            <a:r>
              <a:t>Reduced time spent on manual price research</a:t>
            </a:r>
          </a:p>
          <a:p>
            <a:pPr>
              <a:defRPr sz="2400"/>
            </a:pPr>
            <a:r>
              <a:t>Increased customer trust through accurate predictions</a:t>
            </a:r>
          </a:p>
          <a:p>
            <a:pPr>
              <a:defRPr sz="2400"/>
            </a:pPr>
            <a:r>
              <a:t>Better negotiation position with suppliers</a:t>
            </a:r>
          </a:p>
          <a:p>
            <a:pPr>
              <a:defRPr sz="2400"/>
            </a:pPr>
            <a:r>
              <a:t>Data-driven insights for inventory and purchasing decisions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C4D79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Model is ready for immediate implementation</a:t>
            </a:r>
          </a:p>
          <a:p>
            <a:pPr>
              <a:defRPr sz="2400"/>
            </a:pPr>
            <a:r>
              <a:t>Training for team members on using the prediction tool</a:t>
            </a:r>
          </a:p>
          <a:p>
            <a:pPr>
              <a:defRPr sz="2400"/>
            </a:pPr>
            <a:r>
              <a:t>Regular model updates as new data becomes available</a:t>
            </a:r>
          </a:p>
          <a:p>
            <a:pPr>
              <a:defRPr sz="2400"/>
            </a:pPr>
            <a:r>
              <a:t>Potential expansion to predict other product attributes</a:t>
            </a:r>
          </a:p>
          <a:p>
            <a:pPr>
              <a:defRPr sz="2400"/>
            </a:pPr>
            <a:r>
              <a:t>Continuous improvement based on feedback and results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4D79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Questions? Contact the Data Science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</TotalTime>
  <Words>680</Words>
  <Application>Microsoft Office PowerPoint</Application>
  <PresentationFormat>Widescreen</PresentationFormat>
  <Paragraphs>98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Wingdings</vt:lpstr>
      <vt:lpstr>Retrospect</vt:lpstr>
      <vt:lpstr>XoX Price Prediction Model</vt:lpstr>
      <vt:lpstr>Introduction: Business Context</vt:lpstr>
      <vt:lpstr>Understanding Our Data</vt:lpstr>
      <vt:lpstr>Missing values </vt:lpstr>
      <vt:lpstr>Numerical value (feature) analysis</vt:lpstr>
      <vt:lpstr>Correlation analysis of numerical values</vt:lpstr>
      <vt:lpstr>Time feature analysis: frequence</vt:lpstr>
      <vt:lpstr>Time feature analysis: time vs price</vt:lpstr>
      <vt:lpstr>Categorical feature: product type</vt:lpstr>
      <vt:lpstr>Categorical feature: product level</vt:lpstr>
      <vt:lpstr>Categorical feature: maker</vt:lpstr>
      <vt:lpstr>Categorical feature: ingredient</vt:lpstr>
      <vt:lpstr>What Drives XoX Pricing?</vt:lpstr>
      <vt:lpstr>Feature Selection</vt:lpstr>
      <vt:lpstr>Feature Engineering</vt:lpstr>
      <vt:lpstr>Building the Prediction Model</vt:lpstr>
      <vt:lpstr>Model Performance: R2</vt:lpstr>
      <vt:lpstr>Model Performance: Overall</vt:lpstr>
      <vt:lpstr>Select best model: XGBoost</vt:lpstr>
      <vt:lpstr>XGBoost: How Prices Are Predicted</vt:lpstr>
      <vt:lpstr>XGBoost: Feature importance</vt:lpstr>
      <vt:lpstr>Stacking regressor</vt:lpstr>
      <vt:lpstr>Results</vt:lpstr>
      <vt:lpstr>Stacking regressor vs other models</vt:lpstr>
      <vt:lpstr>Stacking regressor vs other models</vt:lpstr>
      <vt:lpstr>Stacking regressor: How Prices Are Predicted</vt:lpstr>
      <vt:lpstr>How Well Does Our Model Perform?</vt:lpstr>
      <vt:lpstr>Benefits for Our Business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Miao Li</cp:lastModifiedBy>
  <cp:revision>4</cp:revision>
  <dcterms:created xsi:type="dcterms:W3CDTF">2013-01-27T09:14:16Z</dcterms:created>
  <dcterms:modified xsi:type="dcterms:W3CDTF">2025-05-28T01:15:21Z</dcterms:modified>
  <cp:category/>
</cp:coreProperties>
</file>